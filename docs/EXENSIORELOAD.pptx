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\.rels><?xml version="1.0" encoding="UTF-8" standalone="yes"?>
<Relationships xmlns="http://schemas.openxmlformats.org/package/2006/relationships">
  <Relationship Id="rId1" Type="http://schemas.openxmlformats.org/officeDocument/2006/relationships/officeDocument" Target="ppt/presentation.xml"/>
  <Relationship Id="rId2" Type="http://schemas.openxmlformats.org/package/2006/metadata/core-properties" Target="docProps/core.xml"/>
  <Relationship Id="rId3" Type="http://schemas.openxmlformats.org/officeDocument/2006/relationships/extended-properties" Target="docProps/app.xml"/>
</Relationships>
</file>

<file path=docProps\app.xml><?xml version="1.0" encoding="utf-8"?>
<Properties xmlns="http://schemas.openxmlformats.org/officeDocument/2006/extended-properties">
  <Application>Microsoft PowerPoint</Application>
  <Slides>16</Slides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EXENSIORELOAD</dc:title>
  <dc:creator>ExensioReload</dc:creator>
  <dcterms:created xsi:type="dcterms:W3CDTF">2026-05-22T02:54:15Z</dcterms:created>
  <dcterms:modified xsi:type="dcterms:W3CDTF">2026-05-22T02:54:15Z</dcterms:modified>
</cp:coreProperties>
</file>

<file path=ppt\_rels\presentation.xml.rels><?xml version="1.0" encoding="UTF-8" standalone="yes"?>
<Relationships xmlns="http://schemas.openxmlformats.org/package/2006/relationships">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slide" Target="slides/slide13.xml"/>
  <Relationship Id="rId15" Type="http://schemas.openxmlformats.org/officeDocument/2006/relationships/slide" Target="slides/slide14.xml"/>
  <Relationship Id="rId16" Type="http://schemas.openxmlformats.org/officeDocument/2006/relationships/slide" Target="slides/slide15.xml"/>
  <Relationship Id="rId17" Type="http://schemas.openxmlformats.org/officeDocument/2006/relationships/slide" Target="slides/slide16.xml"/>
</Relationships>
</file>

<file path=ppt\presProps.xml><?xml version="1.0" encoding="utf-8"?>
<p:presProps xmlns:p="http://schemas.openxmlformats.org/presentationml/2006/main"/>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9144000" cy="6858000" type="screen4x3"/>
  <p:notesSz cx="6858000" cy="9144000"/>
  <p:defaultTextStyle/>
</p:presentation>
</file>

<file path=ppt\slideLayouts\_rels\slideLayout1.xml.rels><?xml version="1.0" encoding="UTF-8" standalone="yes"?>
<Relationships xmlns="http://schemas.openxmlformats.org/package/2006/relationships">
  <Relationship Id="rId1" Type="http://schemas.openxmlformats.org/officeDocument/2006/relationships/slideMaster" Target="../slideMasters/slideMaster1.xml"/>
</Relationships>
</file>

<file path=ppt\slideLayouts\_rels\slideLayout2.xml.rels><?xml version="1.0" encoding="UTF-8" standalone="yes"?>
<Relationships xmlns="http://schemas.openxmlformats.org/package/2006/relationships">
  <Relationship Id="rId1" Type="http://schemas.openxmlformats.org/officeDocument/2006/relationships/slideMaster" Target="../slideMasters/slideMaster1.xml"/>
</Relationships>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/>
        </p:txBody>
      </p:sp>
    </p:spTree>
  </p:cSld>
  <p:clrMapOvr>
    <a:masterClrMapping/>
  </p:clrMapOvr>
</p:sldLayout>
</file>

<file path=ppt\slideLayouts\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/>
        </p:txBody>
      </p:sp>
    </p:spTree>
  </p:cSld>
  <p:clrMapOvr>
    <a:masterClrMapping/>
  </p:clrMapOvr>
</p:sldLayout>
</file>

<file path=ppt\slideMasters\_rels\slideMaster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slideLayout" Target="../slideLayouts/slideLayout2.xml"/>
  <Relationship Id="rId3" Type="http://schemas.openxmlformats.org/officeDocument/2006/relationships/theme" Target="../theme/theme1.xml"/>
</Relationships>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</p:sldMaster>
</file>

<file path=ppt\slides\_rels\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ExensioReload - Project Intelligence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dirty="0"/>
              <a:t>Fullstack application for semiconductor test data resend across 20+ manufacturing sites.</a:t>
            </a:r>
          </a:p>
          <a:p>
            <a:r>
              <a:rPr lang="en-US" dirty="0"/>
              <a:t>Discover metadata from Oracle DBs, stage payloads, dispatch to sender queues, monitor completion.</a:t>
            </a:r>
          </a:p>
          <a:p>
            <a:r>
              <a:rPr lang="en-US" dirty="0"/>
              <a:t>Modern glassmorphism UI - Angular 21 + Spring Boot 3 / Java 21</a:t>
            </a:r>
          </a:p>
        </p:txBody>
      </p:sp>
    </p:spTree>
  </p:cSld>
  <p:clrMapOvr>
    <a:masterClrMapping/>
  </p:clrMapOvr>
</p:sld>
</file>

<file path=ppt\slides\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Architecture summary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-342900">
              <a:buChar char="â€¢"/>
            </a:pPr>
            <a:r>
              <a:rPr lang="en-US" dirty="0"/>
              <a:t>Frontend: Angular 21.2, port 4200 (dev) proxied to backend; Signals + RxJS; glass design system.</a:t>
            </a:r>
          </a:p>
          <a:p>
            <a:pPr marL="342900" indent="-342900">
              <a:buChar char="â€¢"/>
            </a:pPr>
            <a:r>
              <a:rPr lang="en-US" dirty="0"/>
              <a:t>Backend: Spring Boot, port 8004, context /exensioreload; JWT + Entra OIDC; Liquibase; HikariCP per site.</a:t>
            </a:r>
          </a:p>
          <a:p>
            <a:pPr marL="342900" indent="-342900">
              <a:buChar char="â€¢"/>
            </a:pPr>
            <a:r>
              <a:rPr lang="en-US" dirty="0"/>
              <a:t>Data: Oracle RefDB (staging) + 20+ site Oracle DBs; H2 for dev/test.</a:t>
            </a:r>
          </a:p>
          <a:p>
            <a:pPr marL="342900" indent="-342900">
              <a:buChar char="â€¢"/>
            </a:pPr>
            <a:r>
              <a:rPr lang="en-US" dirty="0"/>
              <a:t>Active app: frontend/ only (no separate new_frontend workspace).</a:t>
            </a:r>
          </a:p>
        </p:txBody>
      </p:sp>
    </p:spTree>
  </p:cSld>
  <p:clrMapOvr>
    <a:masterClrMapping/>
  </p:clrMapOvr>
</p:sld>
</file>

<file path=ppt\slides\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Backend tech stack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-342900">
              <a:buChar char="â€¢"/>
            </a:pPr>
            <a:r>
              <a:rPr lang="en-US" dirty="0"/>
              <a:t>Java 21, Spring Boot 4.0.6, Maven, JPA/Hibernate</a:t>
            </a:r>
          </a:p>
          <a:p>
            <a:pPr marL="342900" indent="-342900">
              <a:buChar char="â€¢"/>
            </a:pPr>
            <a:r>
              <a:rPr lang="en-US" dirty="0"/>
              <a:t>Oracle ojdbc 23.3, H2 (test), Liquibase, HikariCP 5.0.1</a:t>
            </a:r>
          </a:p>
          <a:p>
            <a:pPr marL="342900" indent="-342900">
              <a:buChar char="â€¢"/>
            </a:pPr>
            <a:r>
              <a:rPr lang="en-US" dirty="0"/>
              <a:t>JWT (jjwt) + Microsoft Entra OIDC, Caffeine cache, Micrometer/Prometheus</a:t>
            </a:r>
          </a:p>
          <a:p>
            <a:pPr marL="342900" indent="-342900">
              <a:buChar char="â€¢"/>
            </a:pPr>
            <a:r>
              <a:rPr lang="en-US" dirty="0"/>
              <a:t>Package: com.onsemi.cim.apps.exensio.exensioreload (~148 Java source files)</a:t>
            </a:r>
          </a:p>
        </p:txBody>
      </p:sp>
    </p:spTree>
  </p:cSld>
  <p:clrMapOvr>
    <a:masterClrMapping/>
  </p:clrMapOvr>
</p:sld>
</file>

<file path=ppt\slides\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Key configuration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-342900">
              <a:buChar char="â€¢"/>
            </a:pPr>
            <a:r>
              <a:rPr lang="en-US" dirty="0"/>
              <a:t>server.port=8004, context-path=/exensioreload</a:t>
            </a:r>
          </a:p>
          <a:p>
            <a:pPr marL="342900" indent="-342900">
              <a:buChar char="â€¢"/>
            </a:pPr>
            <a:r>
              <a:rPr lang="en-US" dirty="0"/>
              <a:t>jwt.ttl=900s, refresh cookie max-age=604800 (7 days)</a:t>
            </a:r>
          </a:p>
          <a:p>
            <a:pPr marL="342900" indent="-342900">
              <a:buChar char="â€¢"/>
            </a:pPr>
            <a:r>
              <a:rPr lang="en-US" dirty="0"/>
              <a:t>refdb.dispatch.interval-ms=60000</a:t>
            </a:r>
          </a:p>
          <a:p>
            <a:pPr marL="342900" indent="-342900">
              <a:buChar char="â€¢"/>
            </a:pPr>
            <a:r>
              <a:rPr lang="en-US" dirty="0"/>
              <a:t>app.preview.fetch-cap / max-rows-cap: 2000 default; app.stage.max-rows-cap: 10000</a:t>
            </a:r>
          </a:p>
          <a:p>
            <a:pPr marL="342900" indent="-342900">
              <a:buChar char="â€¢"/>
            </a:pPr>
            <a:r>
              <a:rPr lang="en-US" dirty="0"/>
              <a:t>external-db.allow-writes=false (gate for external DB writes)</a:t>
            </a:r>
          </a:p>
          <a:p>
            <a:pPr marL="342900" indent="-342900">
              <a:buChar char="â€¢"/>
            </a:pPr>
            <a:r>
              <a:rPr lang="en-US" dirty="0"/>
              <a:t>dbconnections.yml: 20+ site Oracle connections (PROD/QA)</a:t>
            </a:r>
          </a:p>
        </p:txBody>
      </p:sp>
    </p:spTree>
  </p:cSld>
  <p:clrMapOvr>
    <a:masterClrMapping/>
  </p:clrMapOvr>
</p:sld>
</file>

<file path=ppt\slides\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REST API - Auth and senders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-342900">
              <a:buChar char="â€¢"/>
            </a:pPr>
            <a:r>
              <a:rPr lang="en-US" dirty="0"/>
              <a:t>Auth (public): login, refresh, register, verify, password reset.</a:t>
            </a:r>
          </a:p>
          <a:p>
            <a:pPr marL="342900" indent="-342900">
              <a:buChar char="â€¢"/>
            </a:pPr>
            <a:r>
              <a:rPr lang="en-US" dirty="0"/>
              <a:t>Senders: discover/preview, preview-with-duplicates, historical-summary, stage-all, stage, dispatch.</a:t>
            </a:r>
          </a:p>
          <a:p>
            <a:pPr marL="342900" indent="-342900">
              <a:buChar char="â€¢"/>
            </a:pPr>
            <a:r>
              <a:rPr lang="en-US" dirty="0"/>
              <a:t>Lookups: senders, locations, dataTypes, testerTypes, external metadata filters.</a:t>
            </a:r>
          </a:p>
          <a:p>
            <a:pPr marL="342900" indent="-342900">
              <a:buChar char="â€¢"/>
            </a:pPr>
            <a:r>
              <a:rPr lang="en-US" dirty="0"/>
              <a:t>Exports: preview CSV; duplicate checks before staging.</a:t>
            </a:r>
          </a:p>
        </p:txBody>
      </p:sp>
    </p:spTree>
  </p:cSld>
  <p:clrMapOvr>
    <a:masterClrMapping/>
  </p:clrMapOvr>
</p:sld>
</file>

<file path=ppt\slides\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REST API - Stage, dashboard, admin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-342900">
              <a:buChar char="â€¢"/>
            </a:pPr>
            <a:r>
              <a:rPr lang="en-US" dirty="0"/>
              <a:t>Stage: records, stats, SSE monitor/{requestId}, CSV export, active-sessions.</a:t>
            </a:r>
          </a:p>
          <a:p>
            <a:pPr marL="342900" indent="-342900">
              <a:buChar char="â€¢"/>
            </a:pPr>
            <a:r>
              <a:rPr lang="en-US" dirty="0"/>
              <a:t>Dashboard: snapshot, per-site/sender records and CSV export.</a:t>
            </a:r>
          </a:p>
          <a:p>
            <a:pPr marL="342900" indent="-342900">
              <a:buChar char="â€¢"/>
            </a:pPr>
            <a:r>
              <a:rPr lang="en-US" dirty="0"/>
              <a:t>Admin users (SUPER_ADMIN): CRUD, roles, toggle status, audit-logs, stats.</a:t>
            </a:r>
          </a:p>
          <a:p>
            <a:pPr marL="342900" indent="-342900">
              <a:buChar char="â€¢"/>
            </a:pPr>
            <a:r>
              <a:rPr lang="en-US" dirty="0"/>
              <a:t>Internal: pool stats/evict, metrics, session management.</a:t>
            </a:r>
          </a:p>
          <a:p>
            <a:pPr marL="342900" indent="-342900">
              <a:buChar char="â€¢"/>
            </a:pPr>
            <a:r>
              <a:rPr lang="en-US" dirty="0"/>
              <a:t>Config: /api/config/limits for preview/stage thresholds.</a:t>
            </a:r>
          </a:p>
        </p:txBody>
      </p:sp>
    </p:spTree>
  </p:cSld>
  <p:clrMapOvr>
    <a:masterClrMapping/>
  </p:clrMapOvr>
</p:sld>
</file>

<file path=ppt\slides\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Database schema (Liquibase)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-342900">
              <a:buChar char="â€¢"/>
            </a:pPr>
            <a:r>
              <a:rPr lang="en-US" dirty="0"/>
              <a:t>SENDER_STAGE - core staging on RefDB (status, request_id, CP/Exensio keys).</a:t>
            </a:r>
          </a:p>
          <a:p>
            <a:pPr marL="342900" indent="-342900">
              <a:buChar char="â€¢"/>
            </a:pPr>
            <a:r>
              <a:rPr lang="en-US" dirty="0"/>
              <a:t>sender_queue, load_session, load_session_payload - batch processing.</a:t>
            </a:r>
          </a:p>
          <a:p>
            <a:pPr marL="342900" indent="-342900">
              <a:buChar char="â€¢"/>
            </a:pPr>
            <a:r>
              <a:rPr lang="en-US" dirty="0"/>
              <a:t>users, user_roles, refresh/verification/password tokens, audit_log.</a:t>
            </a:r>
          </a:p>
          <a:p>
            <a:pPr marL="342900" indent="-342900">
              <a:buChar char="â€¢"/>
            </a:pPr>
            <a:r>
              <a:rPr lang="en-US" dirty="0"/>
              <a:t>external_environment, external_location - environment definitions.</a:t>
            </a:r>
          </a:p>
          <a:p>
            <a:pPr marL="342900" indent="-342900">
              <a:buChar char="â€¢"/>
            </a:pPr>
            <a:r>
              <a:rPr lang="en-US" dirty="0"/>
              <a:t>15 changelogs; Oracle-specific SQL in JdbcExternalMetadataRepository.</a:t>
            </a:r>
          </a:p>
        </p:txBody>
      </p:sp>
    </p:spTree>
  </p:cSld>
  <p:clrMapOvr>
    <a:masterClrMapping/>
  </p:clrMapOvr>
</p:sld>
</file>

<file path=ppt\slides\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Authentication &amp; authorization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-342900">
              <a:buChar char="â€¢"/>
            </a:pPr>
            <a:r>
              <a:rPr lang="en-US" dirty="0"/>
              <a:t>Local JWT + refresh token in DB; HTTP-only refresh cookie survives browser restart.</a:t>
            </a:r>
          </a:p>
          <a:p>
            <a:pPr marL="342900" indent="-342900">
              <a:buChar char="â€¢"/>
            </a:pPr>
            <a:r>
              <a:rPr lang="en-US" dirty="0"/>
              <a:t>Entra OIDC when reloader.sso.enabled=true; groups map to ADMIN and SUPER_ADMIN.</a:t>
            </a:r>
          </a:p>
          <a:p>
            <a:pPr marL="342900" indent="-342900">
              <a:buChar char="â€¢"/>
            </a:pPr>
            <a:r>
              <a:rPr lang="en-US" dirty="0"/>
              <a:t>JwtAuthenticationFilter, stateless sessions, CSRF disabled.</a:t>
            </a:r>
          </a:p>
          <a:p>
            <a:pPr marL="342900" indent="-342900">
              <a:buChar char="â€¢"/>
            </a:pPr>
            <a:r>
              <a:rPr lang="en-US" dirty="0"/>
              <a:t>Role hierarchy: SUPER_ADMIN, then ADMIN, then USER; PreAuthorize on controllers.</a:t>
            </a:r>
          </a:p>
          <a:p>
            <a:pPr marL="342900" indent="-342900">
              <a:buChar char="â€¢"/>
            </a:pPr>
            <a:r>
              <a:rPr lang="en-US" dirty="0"/>
              <a:t>SSO: /api/auth/sso/initiate, /api/auth/sso/silent, callback /sso-callback.</a:t>
            </a:r>
          </a:p>
        </p:txBody>
      </p:sp>
    </p:spTree>
  </p:cSld>
  <p:clrMapOvr>
    <a:masterClrMapping/>
  </p:clrMapOvr>
</p:sld>
</file>

<file path=ppt\slides\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Background tasks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-342900">
              <a:buChar char="â€¢"/>
            </a:pPr>
            <a:r>
              <a:rPr lang="en-US" dirty="0"/>
              <a:t>SenderDispatchService 60s: NEW to DTP_SENDER_QUEUE_ITEM to ENRICHMENT.</a:t>
            </a:r>
          </a:p>
          <a:p>
            <a:pPr marL="342900" indent="-342900">
              <a:buChar char="â€¢"/>
            </a:pPr>
            <a:r>
              <a:rPr lang="en-US" dirty="0"/>
              <a:t>SenderQueueMonitor 10s: queue consumption; ES on/off routing.</a:t>
            </a:r>
          </a:p>
          <a:p>
            <a:pPr marL="342900" indent="-342900">
              <a:buChar char="â€¢"/>
            </a:pPr>
            <a:r>
              <a:rPr lang="en-US" dirty="0"/>
              <a:t>CpLogMonitor 60s: ES polling when configured; ENRICHMENT to EXENSIO_LOADING or FAILED.</a:t>
            </a:r>
          </a:p>
          <a:p>
            <a:pPr marL="342900" indent="-342900">
              <a:buChar char="â€¢"/>
            </a:pPr>
            <a:r>
              <a:rPr lang="en-US" dirty="0"/>
              <a:t>ExensioLoadMonitor 60s: API load confirm to DONE or FAILED.</a:t>
            </a:r>
          </a:p>
          <a:p>
            <a:pPr marL="342900" indent="-342900">
              <a:buChar char="â€¢"/>
            </a:pPr>
            <a:r>
              <a:rPr lang="en-US" dirty="0"/>
              <a:t>CompletionNotificationService every 5 min: email when session complete.</a:t>
            </a:r>
          </a:p>
          <a:p>
            <a:pPr marL="342900" indent="-342900">
              <a:buChar char="â€¢"/>
            </a:pPr>
            <a:r>
              <a:rPr lang="en-US" dirty="0"/>
              <a:t>EtlSshTriggerService: optional SSH crontab kick (etlservers.yml).</a:t>
            </a:r>
          </a:p>
        </p:txBody>
      </p:sp>
    </p:spTree>
  </p:cSld>
  <p:clrMapOvr>
    <a:masterClrMapping/>
  </p:clrMapOvr>
</p:sld>
</file>

<file path=ppt\slides\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Status pipeline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-342900">
              <a:buChar char="â€¢"/>
            </a:pPr>
            <a:r>
              <a:rPr lang="en-US" dirty="0"/>
              <a:t>Active: NEW to ENRICHMENT to EXENSIO_LOADING to DONE, FAILED, or CANCELLED.</a:t>
            </a:r>
          </a:p>
          <a:p>
            <a:pPr marL="342900" indent="-342900">
              <a:buChar char="â€¢"/>
            </a:pPr>
            <a:r>
              <a:rPr lang="en-US" dirty="0"/>
              <a:t>SenderDispatchService: NEW to ENRICHMENT directly (ENQUEUED is dead code).</a:t>
            </a:r>
          </a:p>
          <a:p>
            <a:pPr marL="342900" indent="-342900">
              <a:buChar char="â€¢"/>
            </a:pPr>
            <a:r>
              <a:rPr lang="en-US" dirty="0"/>
              <a:t>StagePipelinePolicy: after CP queue - ES to CpLogMonitor; else Exensio or DONE.</a:t>
            </a:r>
          </a:p>
          <a:p>
            <a:pPr marL="342900" indent="-342900">
              <a:buChar char="â€¢"/>
            </a:pPr>
            <a:r>
              <a:rPr lang="en-US" dirty="0"/>
              <a:t>Capability-based completion; StatusMapper uses inExternalQueue for UI labels.</a:t>
            </a:r>
          </a:p>
          <a:p>
            <a:pPr marL="342900" indent="-342900">
              <a:buChar char="â€¢"/>
            </a:pPr>
            <a:r>
              <a:rPr lang="en-US" dirty="0"/>
              <a:t>See docs/STATUS_PIPELINE.md for full detail.</a:t>
            </a:r>
          </a:p>
        </p:txBody>
      </p:sp>
    </p:spTree>
  </p:cSld>
  <p:clrMapOvr>
    <a:masterClrMapping/>
  </p:clrMapOvr>
</p:sld>
</file>

<file path=ppt\slides\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Frontend - Angular 21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-342900">
              <a:buChar char="â€¢"/>
            </a:pPr>
            <a:r>
              <a:rPr lang="en-US" dirty="0"/>
              <a:t>100% standalone components, lazy routes, functional guards/interceptors.</a:t>
            </a:r>
          </a:p>
          <a:p>
            <a:pPr marL="342900" indent="-342900">
              <a:buChar char="â€¢"/>
            </a:pPr>
            <a:r>
              <a:rPr lang="en-US" dirty="0"/>
              <a:t>Signals for UI state; RxJS for HTTP/SSE; glassmorphism design (not Material-themed).</a:t>
            </a:r>
          </a:p>
          <a:p>
            <a:pPr marL="342900" indent="-342900">
              <a:buChar char="â€¢"/>
            </a:pPr>
            <a:r>
              <a:rPr lang="en-US" dirty="0"/>
              <a:t>Key routes: /exensioreload (dashboard), /exensioreload/new (stepper), /my-sessions, /admin/users.</a:t>
            </a:r>
          </a:p>
          <a:p>
            <a:pPr marL="342900" indent="-342900">
              <a:buChar char="â€¢"/>
            </a:pPr>
            <a:r>
              <a:rPr lang="en-US" dirty="0"/>
              <a:t>GlassDialogService for dialogs; CVA form controls; dark + light themes.</a:t>
            </a:r>
          </a:p>
          <a:p>
            <a:pPr marL="342900" indent="-342900">
              <a:buChar char="â€¢"/>
            </a:pPr>
            <a:r>
              <a:rPr lang="en-US" dirty="0"/>
              <a:t>Charts: ECharts in MySessionsComponent (trend + pie, ResizeObserver).</a:t>
            </a:r>
          </a:p>
        </p:txBody>
      </p:sp>
    </p:spTree>
  </p:cSld>
  <p:clrMapOvr>
    <a:masterClrMapping/>
  </p:clrMapOvr>
</p:sld>
</file>

<file path=ppt\slides\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Core business flow - 3-step stepper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-342900">
              <a:buChar char="â€¢"/>
            </a:pPr>
            <a:r>
              <a:rPr lang="en-US" dirty="0"/>
              <a:t>1. Configure: environment, site, sender; filters (lot, wafer, dates, tester, data type).</a:t>
            </a:r>
          </a:p>
          <a:p>
            <a:pPr marL="342900" indent="-342900">
              <a:buChar char="â€¢"/>
            </a:pPr>
            <a:r>
              <a:rPr lang="en-US" dirty="0"/>
              <a:t>2. Preview: query external Oracle; duplicates vs SENDER_STAGE; stage selected or stage-all.</a:t>
            </a:r>
          </a:p>
          <a:p>
            <a:pPr marL="342900" indent="-342900">
              <a:buChar char="â€¢"/>
            </a:pPr>
            <a:r>
              <a:rPr lang="en-US" dirty="0"/>
              <a:t>Adaptive sizing: 1000 rows normal; 10000 + bypassCap for historical/super-admin date range.</a:t>
            </a:r>
          </a:p>
          <a:p>
            <a:pPr marL="342900" indent="-342900">
              <a:buChar char="â€¢"/>
            </a:pPr>
            <a:r>
              <a:rPr lang="en-US" dirty="0"/>
              <a:t>3. Monitor: SSE progress; dispatch to queues; email on session completion.</a:t>
            </a:r>
          </a:p>
          <a:p>
            <a:pPr marL="342900" indent="-342900">
              <a:buChar char="â€¢"/>
            </a:pPr>
            <a:r>
              <a:rPr lang="en-US" dirty="0"/>
              <a:t>Dashboard: 10s polling snapshot; drill-down by site and sender.</a:t>
            </a:r>
          </a:p>
        </p:txBody>
      </p:sp>
    </p:spTree>
  </p:cSld>
  <p:clrMapOvr>
    <a:masterClrMapping/>
  </p:clrMapOvr>
</p:sld>
</file>

<file path=ppt\slides\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Key services &amp; patterns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-342900">
              <a:buChar char="â€¢"/>
            </a:pPr>
            <a:r>
              <a:rPr lang="en-US" dirty="0"/>
              <a:t>BackendService (598 LOC): all API calls; AuthService: JWT + refresh + SSO restore.</a:t>
            </a:r>
          </a:p>
          <a:p>
            <a:pPr marL="342900" indent="-342900">
              <a:buChar char="â€¢"/>
            </a:pPr>
            <a:r>
              <a:rPr lang="en-US" dirty="0"/>
              <a:t>MonitoringService: EventSource SSE + polling fallback.</a:t>
            </a:r>
          </a:p>
          <a:p>
            <a:pPr marL="342900" indent="-342900">
              <a:buChar char="â€¢"/>
            </a:pPr>
            <a:r>
              <a:rPr lang="en-US" dirty="0"/>
              <a:t>Immutable Java records for DTOs; thin controllers; @Scheduled + @Async.</a:t>
            </a:r>
          </a:p>
          <a:p>
            <a:pPr marL="342900" indent="-342900">
              <a:buChar char="â€¢"/>
            </a:pPr>
            <a:r>
              <a:rPr lang="en-US" dirty="0"/>
              <a:t>Dynamic HikariCP pools per site; Caffeine preview cache (200 entries, 30s TTL).</a:t>
            </a:r>
          </a:p>
          <a:p>
            <a:pPr marL="342900" indent="-342900">
              <a:buChar char="â€¢"/>
            </a:pPr>
            <a:r>
              <a:rPr lang="en-US" dirty="0"/>
              <a:t>Claim-based batch processing for concurrent-safe payload claiming.</a:t>
            </a:r>
          </a:p>
        </p:txBody>
      </p:sp>
    </p:spTree>
  </p:cSld>
  <p:clrMapOvr>
    <a:masterClrMapping/>
  </p:clrMapOvr>
</p:sld>
</file>

<file path=ppt\slides\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Development conventions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-342900">
              <a:buChar char="â€¢"/>
            </a:pPr>
            <a:r>
              <a:rPr lang="en-US" dirty="0"/>
              <a:t>Backend: records for DTOs, transactional services, audit IP/UserAgent, JSON error handlers.</a:t>
            </a:r>
          </a:p>
          <a:p>
            <a:pPr marL="342900" indent="-342900">
              <a:buChar char="â€¢"/>
            </a:pPr>
            <a:r>
              <a:rPr lang="en-US" dirty="0"/>
              <a:t>Frontend: inject(), signal() for form state, glass-* component prefix, no NgModules.</a:t>
            </a:r>
          </a:p>
          <a:p>
            <a:pPr marL="342900" indent="-342900">
              <a:buChar char="â€¢"/>
            </a:pPr>
            <a:r>
              <a:rPr lang="en-US" dirty="0"/>
              <a:t>Use frontend/, context /exensioreload/api, dev proxy :4200 to :8004.</a:t>
            </a:r>
          </a:p>
          <a:p>
            <a:pPr marL="342900" indent="-342900">
              <a:buChar char="â€¢"/>
            </a:pPr>
            <a:r>
              <a:rPr lang="en-US" dirty="0"/>
              <a:t>Oracle SQL (ROWNUM, NVL); EXTERNAL_DB_ALLOW_WRITES for writes.</a:t>
            </a:r>
          </a:p>
          <a:p>
            <a:pPr marL="342900" indent="-342900">
              <a:buChar char="â€¢"/>
            </a:pPr>
            <a:r>
              <a:rPr lang="en-US" dirty="0"/>
              <a:t>Standards: Signals-first UI state; preserve glass + dark/light themes.</a:t>
            </a:r>
          </a:p>
        </p:txBody>
      </p:sp>
    </p:spTree>
  </p:cSld>
  <p:clrMapOvr>
    <a:masterClrMapping/>
  </p:clrMapOvr>
</p:sld>
</file>

<file path=ppt\slides\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Critical gotchas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-342900">
              <a:buChar char="â€¢"/>
            </a:pPr>
            <a:r>
              <a:rPr lang="en-US" dirty="0"/>
              <a:t>StepperComponent ~2098 LOC; SenderController ~1644; RefDbService ~2334.</a:t>
            </a:r>
          </a:p>
          <a:p>
            <a:pPr marL="342900" indent="-342900">
              <a:buChar char="â€¢"/>
            </a:pPr>
            <a:r>
              <a:rPr lang="en-US" dirty="0"/>
              <a:t>AuthGuard async: restoreSession via refresh cookie on new tab.</a:t>
            </a:r>
          </a:p>
          <a:p>
            <a:pPr marL="342900" indent="-342900">
              <a:buChar char="â€¢"/>
            </a:pPr>
            <a:r>
              <a:rPr lang="en-US" dirty="0"/>
              <a:t>GlassDialogService vs Material Dialog - prefer Glass for new work.</a:t>
            </a:r>
          </a:p>
          <a:p>
            <a:pPr marL="342900" indent="-342900">
              <a:buChar char="â€¢"/>
            </a:pPr>
            <a:r>
              <a:rPr lang="en-US" dirty="0"/>
              <a:t>CP ES + Exensio: safe to deploy unconfigured (no-op when URLs disabled).</a:t>
            </a:r>
          </a:p>
          <a:p>
            <a:pPr marL="342900" indent="-342900">
              <a:buChar char="â€¢"/>
            </a:pPr>
            <a:r>
              <a:rPr lang="en-US" dirty="0"/>
              <a:t>No ES client library - raw HTTP via java.net.http.HttpClient.</a:t>
            </a:r>
          </a:p>
          <a:p>
            <a:pPr marL="342900" indent="-342900">
              <a:buChar char="â€¢"/>
            </a:pPr>
            <a:r>
              <a:rPr lang="en-US" dirty="0"/>
              <a:t>Hub link: /exensio-integration-hub/ in app header.</a:t>
            </a:r>
          </a:p>
        </p:txBody>
      </p:sp>
    </p:spTree>
  </p:cSld>
  <p:clrMapOvr>
    <a:masterClrMapping/>
  </p:clrMapOvr>
</p:sld>
</file>

<file path=ppt\slides\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Related documentation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dirty="0"/>
              <a:t>docs/EXENSIORELOAD.md - this intelligence doc</a:t>
            </a:r>
          </a:p>
          <a:p>
            <a:r>
              <a:rPr lang="en-US" dirty="0"/>
              <a:t>docs/INTEGRATION_ES_EXENSIO.md - CP Elasticsearch and Exensio API</a:t>
            </a:r>
          </a:p>
          <a:p>
            <a:r>
              <a:rPr lang="en-US" dirty="0"/>
              <a:t>docs/ETL_SSH_TRIGGER.md - optional SSH ETL trigger</a:t>
            </a:r>
          </a:p>
          <a:p>
            <a:r>
              <a:rPr lang="en-US" dirty="0"/>
              <a:t>docs/SSO_ONBOARDING_DETAILS.md - Entra registration</a:t>
            </a:r>
          </a:p>
          <a:p>
            <a:r>
              <a:rPr lang="en-US" dirty="0"/>
              <a:t>docs/STATUS_PIPELINE.md, RXJS_VS_SIGNALS_GUIDE.md</a:t>
            </a:r>
          </a:p>
        </p:txBody>
      </p:sp>
    </p:spTree>
  </p:cSld>
  <p:clrMapOvr>
    <a:masterClrMapping/>
  </p:clrMapOvr>
</p:sld>
</file>

<file path=ppt\tableStyles.xml><?xml version="1.0" encoding="utf-8"?>
<a:tblStyleLst xmlns:a="http://schemas.openxmlformats.org/drawingml/2006/main" def="{5C22544A-7EE6-4342-B048-85BDC9FD1C3A}"/>
</file>

<file path=ppt\theme\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\viewProps.xml><?xml version="1.0" encoding="utf-8"?>
<p:viewPr xmlns:p="http://schemas.openxmlformats.org/presentationml/2006/main">
  <p:normalViewPr>
    <p:restoredLeft sz="15620"/>
    <p:restoredTop sz="94660"/>
  </p:normalViewPr>
  <p:slideViewPr/>
</p:viewPr>
</file>